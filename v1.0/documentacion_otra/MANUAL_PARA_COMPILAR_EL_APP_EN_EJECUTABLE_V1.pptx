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60" r:id="rId5"/>
    <p:sldId id="261" r:id="rId6"/>
    <p:sldId id="268" r:id="rId7"/>
    <p:sldId id="262" r:id="rId8"/>
    <p:sldId id="265" r:id="rId9"/>
    <p:sldId id="267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B196E-A661-4116-95D0-A2B39240886D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008E6-695E-4338-B539-666964BD679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356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EA17A-9760-2DFF-822A-BCEF0F162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95D285-44AD-4BAF-CC5A-4AC1E823D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FE101B-1796-2673-9E5A-90449E94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3BD6-1794-4897-8627-A9CA875DCE83}" type="datetime1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610FD9-99AD-1804-B22D-4EA6E294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83BBCE-513A-7A5F-91E8-A3C4D482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9360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19827-578B-A73C-4210-475BCD24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07A96D-E702-76E0-E56D-8202CFF8D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253D5B-FD0C-C422-DCF9-0C3447276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3D06-F9A8-436C-B286-26AE92E06BAE}" type="datetime1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7D8BD3-43C9-FF00-E16D-BD8DDB026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744B74-080C-DBB4-AB8F-78A71A80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6965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80C99-6B6E-B82F-624D-6FFB1472B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54F358-3DB8-F114-E1B1-9B9A15051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861904-0B65-C7A4-2DC3-0CBF70E8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EFB82-28EC-4AC5-9B0F-99E1EBD5B658}" type="datetime1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3D22F3-D198-60A4-EAEE-1027B4E89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E56A24-CF5E-CBFF-29D1-CA03004C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5616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EFE0F-E6F7-A716-4334-640222713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0EDFF9-E131-A612-C642-24FE1F3B42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A11F82-BAF0-206C-BAC8-5EB8ED42F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4B93FA-BF92-0645-E9C1-F563B489A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F1DC-685E-4851-A555-67665644DC19}" type="datetime1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2F5B42-CD5B-16AE-CA49-07CAAEED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491F64-411B-BFD3-4E87-13FA0814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4764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6E983-A844-8F13-A0F5-323BCD704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5B882B-F165-42F7-EE62-85C005A6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510FDC-2C91-DF24-922E-7F5E13956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C3D443-4579-6D36-9215-89EE7A499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C7FDFE-82ED-C640-DF7D-E2CE010DF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C308A8C-1C8E-4A58-55EA-2A1F9393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AD24-87AE-46BC-84C3-789FA7BD4704}" type="datetime1">
              <a:rPr lang="es-ES" smtClean="0"/>
              <a:t>07/01/2026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6164B67-15A2-22AB-1177-BD6AA2D2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9BD50FE-2807-6B19-95C6-B42D1FF3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77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B5967-8C8C-91C3-7478-C7EFFBB31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FC64677-DEE3-E771-4344-5871430D1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ADD3-8DF0-4C9F-B74D-9A6448617AF5}" type="datetime1">
              <a:rPr lang="es-ES" smtClean="0"/>
              <a:t>07/01/2026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2B90C3-87C2-7ACF-7D61-D1B702CE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4983C0-ABC6-AC70-F0D1-6278DC69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773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BCD259D-7C2A-63EC-20E3-0879B9E2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6FA82-2B2E-4C32-8ADB-66AB296DA96E}" type="datetime1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F6E32A-BB5A-1C15-A423-9904CF10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8FCAAD-A23B-C98B-E88E-FDB99BBF0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4676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40563-4160-6F58-BEE5-8697501DC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8EC357-2AAB-D676-4F8E-E865A8E43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5A444F-6702-AC9B-F89F-DB80EF1E5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306587-4090-3FEB-52F7-6E352CCA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5757-10D8-460F-8CA5-B9442B48FAF2}" type="datetime1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2B8266-5E61-1CB7-A7FE-571051CD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97A361-F954-3C12-BD41-648DAEF1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346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6DF75-C7EF-6104-1EDA-9F03C0A9E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4BF90D5-AE98-75EC-D943-8DD4A8B32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B4AC15-A82B-1A44-D135-C89ACA499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032B58-8A1C-0226-AFCE-32CE1F33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8F93F-40CE-4D08-B3B4-C9E07A040672}" type="datetime1">
              <a:rPr lang="es-ES" smtClean="0"/>
              <a:t>07/01/2026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A948F1-027E-7D2B-B42A-6040FB8C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50AA3A-EDF6-DE2B-00AC-B4332D02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054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35012-F5DE-575C-024B-973C19A0A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A739F1-DC1B-63E6-08C2-DD2B0E28E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11ACB2-480A-335E-AA53-D3FD5252F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D5948-13D6-4732-88E5-F7027A3F775B}" type="datetime1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A37BD2-7341-861A-F938-76336A67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D9633D-71C7-4F85-8268-D295905BF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321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146CAC-1503-762E-62DA-A9B2ACC5D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D13DC2-76C9-37EB-3819-0712F1BD7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9E1437-3570-1FD8-6F8D-CF5E0AE48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F330-9F83-4D2E-838D-D2819469BF23}" type="datetime1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E2E06B-AFBE-B98E-893A-8B7016436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D741D1-EB73-4782-8AEF-CB5415655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129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4EA31C-E1D2-CF9E-3583-8E3AF21AC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963648-1C87-525A-7ED2-308C7914D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0A5D33-4017-7CD7-51EC-8817C19B5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64E14-860E-4C74-A0FE-057D479F4C13}" type="datetime1">
              <a:rPr lang="es-ES" smtClean="0"/>
              <a:t>07/01/2026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FBAB11-53BD-3E2F-B108-5F7A9929D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Manual para compilar el app en ejecutable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3AB62-7D69-8A98-2406-CEEFE258B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B1DF7-845E-494B-92D1-FA7E0489B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0937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E06D0-694E-BAFC-4AF4-825ACF30D4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000" b="1" dirty="0"/>
              <a:t>MANUAL PARA COMPILAR EL APP EN EJECUTABLE EN WINDOWS </a:t>
            </a:r>
          </a:p>
        </p:txBody>
      </p:sp>
    </p:spTree>
    <p:extLst>
      <p:ext uri="{BB962C8B-B14F-4D97-AF65-F5344CB8AC3E}">
        <p14:creationId xmlns:p14="http://schemas.microsoft.com/office/powerpoint/2010/main" val="1918214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5420E9-F0B7-2C89-2758-34B20B129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09" y="971755"/>
            <a:ext cx="10515600" cy="5360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Como paso previo, el pc debe tener </a:t>
            </a:r>
            <a:r>
              <a:rPr lang="es-E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Python 3.9+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instalado. En este manual no se explica como realizar esta instalación  (en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youtube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existen múltiples videos gratuitos que ayudan a ello). </a:t>
            </a:r>
          </a:p>
          <a:p>
            <a:pPr marL="0" indent="0">
              <a:buNone/>
            </a:pP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ES" sz="1400" b="1" u="sng" dirty="0">
                <a:latin typeface="Calibri" panose="020F0502020204030204" pitchFamily="34" charset="0"/>
                <a:cs typeface="Calibri" panose="020F0502020204030204" pitchFamily="34" charset="0"/>
              </a:rPr>
              <a:t>Paso 1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Crear una ubicación donde guardar los archivos siguientes (esta ruta en adelante se llamará </a:t>
            </a:r>
            <a:r>
              <a:rPr lang="es-E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mi_ruta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) que se encuentran en el repositorio </a:t>
            </a:r>
            <a:r>
              <a:rPr lang="es-E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en la carpeta </a:t>
            </a:r>
            <a:r>
              <a:rPr lang="es-ES" sz="14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Templates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ES" sz="1400" b="1" u="sng" dirty="0">
                <a:latin typeface="Calibri" panose="020F0502020204030204" pitchFamily="34" charset="0"/>
                <a:cs typeface="Calibri" panose="020F0502020204030204" pitchFamily="34" charset="0"/>
              </a:rPr>
              <a:t>Paso 2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Crear el entorno virtual donde instalar las librerías Python necesarias.</a:t>
            </a:r>
          </a:p>
          <a:p>
            <a:pPr marL="0" indent="0">
              <a:buNone/>
            </a:pP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Abrimos la consola MS-DOS:</a:t>
            </a:r>
          </a:p>
          <a:p>
            <a:pPr marL="0" indent="0">
              <a:buNone/>
            </a:pP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6DBBB7D2-B88B-1F78-DFE2-31D916229A57}"/>
              </a:ext>
            </a:extLst>
          </p:cNvPr>
          <p:cNvSpPr/>
          <p:nvPr/>
        </p:nvSpPr>
        <p:spPr>
          <a:xfrm>
            <a:off x="1484054" y="5282601"/>
            <a:ext cx="521725" cy="28719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E4748637-5E5F-5081-1A8C-D7C35A4B3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3527" y="6356350"/>
            <a:ext cx="4114800" cy="365125"/>
          </a:xfrm>
        </p:spPr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C19AA9-1570-E4AE-BB93-38FB88BA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2</a:t>
            </a:fld>
            <a:endParaRPr lang="es-E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374A05C-5067-1C14-7307-3E7C1ADA0172}"/>
              </a:ext>
            </a:extLst>
          </p:cNvPr>
          <p:cNvSpPr txBox="1">
            <a:spLocks/>
          </p:cNvSpPr>
          <p:nvPr/>
        </p:nvSpPr>
        <p:spPr>
          <a:xfrm>
            <a:off x="749709" y="1640885"/>
            <a:ext cx="10400071" cy="880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101EC29-A489-503C-D63F-0F162FEE2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12" y="5239217"/>
            <a:ext cx="400050" cy="36195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7D82419-864D-7E58-19FD-0CE47C8E3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135" y="5237341"/>
            <a:ext cx="2718642" cy="36195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23" name="Imagen 22" descr="Imagen que contiene firmar, naranja, azul, gente&#10;&#10;El contenido generado por IA puede ser incorrecto.">
            <a:extLst>
              <a:ext uri="{FF2B5EF4-FFF2-40B4-BE49-F238E27FC236}">
                <a16:creationId xmlns:a16="http://schemas.microsoft.com/office/drawing/2014/main" id="{F3A6CE7E-9576-656C-7594-2E0E63CC5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816" y="5156378"/>
            <a:ext cx="2619375" cy="523875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20479838-BB70-60EE-6799-FFF0468D3C95}"/>
              </a:ext>
            </a:extLst>
          </p:cNvPr>
          <p:cNvSpPr/>
          <p:nvPr/>
        </p:nvSpPr>
        <p:spPr>
          <a:xfrm>
            <a:off x="5079941" y="5273876"/>
            <a:ext cx="521725" cy="28719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7674E90-74DB-9B00-FF50-E223C29B77DB}"/>
              </a:ext>
            </a:extLst>
          </p:cNvPr>
          <p:cNvSpPr/>
          <p:nvPr/>
        </p:nvSpPr>
        <p:spPr>
          <a:xfrm>
            <a:off x="803404" y="347824"/>
            <a:ext cx="10512768" cy="49519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MANUAL PARA COMPILAR EL APP EN EJECUTABLE EN WINDOWS 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BE7ABF3-B85A-6007-43A8-47FFFB77D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84" y="2309601"/>
            <a:ext cx="6656855" cy="21961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941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CC845-CCE3-FB8A-6414-C95BE9A46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4050B4E2-EA0E-4C9A-C2C6-02B97EF6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C0789B-505A-B5B7-FBED-DC065FAA8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3</a:t>
            </a:fld>
            <a:endParaRPr lang="es-ES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8AF8C3CE-0F56-2A48-4C1A-C337F0BEE8FD}"/>
              </a:ext>
            </a:extLst>
          </p:cNvPr>
          <p:cNvSpPr txBox="1">
            <a:spLocks/>
          </p:cNvSpPr>
          <p:nvPr/>
        </p:nvSpPr>
        <p:spPr>
          <a:xfrm>
            <a:off x="1193559" y="1376285"/>
            <a:ext cx="10122613" cy="5929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400" dirty="0"/>
              <a:t>Entramos en la ubicación de </a:t>
            </a:r>
            <a:r>
              <a:rPr lang="es-ES" sz="1400" b="1" dirty="0" err="1"/>
              <a:t>mi_ruta</a:t>
            </a:r>
            <a:endParaRPr lang="es-ES" sz="14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1400" b="1" dirty="0">
                <a:sym typeface="Wingdings" panose="05000000000000000000" pitchFamily="2" charset="2"/>
              </a:rPr>
              <a:t>   cd </a:t>
            </a:r>
            <a:r>
              <a:rPr lang="es-ES" sz="1400" b="1" dirty="0" err="1">
                <a:sym typeface="Wingdings" panose="05000000000000000000" pitchFamily="2" charset="2"/>
              </a:rPr>
              <a:t>mi_ruta</a:t>
            </a:r>
            <a:endParaRPr lang="es-ES" sz="1400" dirty="0">
              <a:sym typeface="Wingdings" panose="05000000000000000000" pitchFamily="2" charset="2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FF102864-D728-A3C4-3110-51E2948FE767}"/>
              </a:ext>
            </a:extLst>
          </p:cNvPr>
          <p:cNvSpPr txBox="1">
            <a:spLocks/>
          </p:cNvSpPr>
          <p:nvPr/>
        </p:nvSpPr>
        <p:spPr>
          <a:xfrm>
            <a:off x="1287269" y="1988694"/>
            <a:ext cx="10028903" cy="15950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dirty="0">
                <a:sym typeface="Wingdings" panose="05000000000000000000" pitchFamily="2" charset="2"/>
              </a:rPr>
              <a:t>Eliminamos el entorno virtual y las carpetas asociadas (por si ya se había creado previamente)</a:t>
            </a:r>
          </a:p>
          <a:p>
            <a:pPr marL="0" indent="0">
              <a:buNone/>
            </a:pPr>
            <a:r>
              <a:rPr lang="es-ES" sz="1400" b="1" dirty="0" err="1">
                <a:sym typeface="Wingdings" panose="05000000000000000000" pitchFamily="2" charset="2"/>
              </a:rPr>
              <a:t>rmdir</a:t>
            </a:r>
            <a:r>
              <a:rPr lang="es-ES" sz="1400" b="1" dirty="0">
                <a:sym typeface="Wingdings" panose="05000000000000000000" pitchFamily="2" charset="2"/>
              </a:rPr>
              <a:t> /s /q </a:t>
            </a:r>
            <a:r>
              <a:rPr lang="es-ES" sz="1400" b="1" dirty="0" err="1">
                <a:sym typeface="Wingdings" panose="05000000000000000000" pitchFamily="2" charset="2"/>
              </a:rPr>
              <a:t>build</a:t>
            </a:r>
            <a:endParaRPr lang="es-ES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s-ES" sz="1400" b="1" dirty="0" err="1">
                <a:sym typeface="Wingdings" panose="05000000000000000000" pitchFamily="2" charset="2"/>
              </a:rPr>
              <a:t>rmdir</a:t>
            </a:r>
            <a:r>
              <a:rPr lang="es-ES" sz="1400" b="1" dirty="0">
                <a:sym typeface="Wingdings" panose="05000000000000000000" pitchFamily="2" charset="2"/>
              </a:rPr>
              <a:t> /s /q </a:t>
            </a:r>
            <a:r>
              <a:rPr lang="es-ES" sz="1400" b="1" dirty="0" err="1">
                <a:sym typeface="Wingdings" panose="05000000000000000000" pitchFamily="2" charset="2"/>
              </a:rPr>
              <a:t>dist</a:t>
            </a:r>
            <a:endParaRPr lang="es-ES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s-ES" sz="1400" b="1" dirty="0" err="1">
                <a:sym typeface="Wingdings" panose="05000000000000000000" pitchFamily="2" charset="2"/>
              </a:rPr>
              <a:t>rmdir</a:t>
            </a:r>
            <a:r>
              <a:rPr lang="es-ES" sz="1400" b="1" dirty="0">
                <a:sym typeface="Wingdings" panose="05000000000000000000" pitchFamily="2" charset="2"/>
              </a:rPr>
              <a:t> /s /q __</a:t>
            </a:r>
            <a:r>
              <a:rPr lang="es-ES" sz="1400" b="1" dirty="0" err="1">
                <a:sym typeface="Wingdings" panose="05000000000000000000" pitchFamily="2" charset="2"/>
              </a:rPr>
              <a:t>pycache</a:t>
            </a:r>
            <a:r>
              <a:rPr lang="es-ES" sz="1400" b="1" dirty="0">
                <a:sym typeface="Wingdings" panose="05000000000000000000" pitchFamily="2" charset="2"/>
              </a:rPr>
              <a:t>__</a:t>
            </a:r>
          </a:p>
          <a:p>
            <a:pPr marL="0" indent="0">
              <a:buNone/>
            </a:pPr>
            <a:r>
              <a:rPr lang="es-ES" sz="1400" b="1" dirty="0" err="1">
                <a:sym typeface="Wingdings" panose="05000000000000000000" pitchFamily="2" charset="2"/>
              </a:rPr>
              <a:t>rmdir</a:t>
            </a:r>
            <a:r>
              <a:rPr lang="es-ES" sz="1400" b="1" dirty="0">
                <a:sym typeface="Wingdings" panose="05000000000000000000" pitchFamily="2" charset="2"/>
              </a:rPr>
              <a:t> </a:t>
            </a:r>
            <a:r>
              <a:rPr lang="es-ES" sz="1400" b="1" dirty="0" err="1">
                <a:sym typeface="Wingdings" panose="05000000000000000000" pitchFamily="2" charset="2"/>
              </a:rPr>
              <a:t>mi_entorno_virtual</a:t>
            </a:r>
            <a:r>
              <a:rPr lang="es-ES" sz="1400" b="1" dirty="0">
                <a:sym typeface="Wingdings" panose="05000000000000000000" pitchFamily="2" charset="2"/>
              </a:rPr>
              <a:t>/s               </a:t>
            </a:r>
            <a:r>
              <a:rPr lang="es-ES" sz="1400" dirty="0">
                <a:sym typeface="Wingdings" panose="05000000000000000000" pitchFamily="2" charset="2"/>
              </a:rPr>
              <a:t>(reemplazar </a:t>
            </a:r>
            <a:r>
              <a:rPr lang="es-ES" sz="1400" dirty="0" err="1">
                <a:sym typeface="Wingdings" panose="05000000000000000000" pitchFamily="2" charset="2"/>
              </a:rPr>
              <a:t>mi_entorno_virtual</a:t>
            </a:r>
            <a:r>
              <a:rPr lang="es-ES" sz="1400" dirty="0">
                <a:sym typeface="Wingdings" panose="05000000000000000000" pitchFamily="2" charset="2"/>
              </a:rPr>
              <a:t> por el nombre del </a:t>
            </a:r>
            <a:r>
              <a:rPr lang="es-ES" sz="1400" dirty="0" err="1">
                <a:sym typeface="Wingdings" panose="05000000000000000000" pitchFamily="2" charset="2"/>
              </a:rPr>
              <a:t>venv</a:t>
            </a:r>
            <a:r>
              <a:rPr lang="es-ES" sz="1400" dirty="0">
                <a:sym typeface="Wingdings" panose="05000000000000000000" pitchFamily="2" charset="2"/>
              </a:rPr>
              <a:t> y marcar S)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F9608784-BA94-BC00-9F74-8DD560B172FC}"/>
              </a:ext>
            </a:extLst>
          </p:cNvPr>
          <p:cNvSpPr txBox="1">
            <a:spLocks/>
          </p:cNvSpPr>
          <p:nvPr/>
        </p:nvSpPr>
        <p:spPr>
          <a:xfrm>
            <a:off x="1287269" y="3651600"/>
            <a:ext cx="10515600" cy="5929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dirty="0">
                <a:sym typeface="Wingdings" panose="05000000000000000000" pitchFamily="2" charset="2"/>
              </a:rPr>
              <a:t>Creamos el entorno virtual (se puede llamar como se quiera aquí lo llamo </a:t>
            </a:r>
            <a:r>
              <a:rPr lang="es-ES" sz="1400" dirty="0" err="1">
                <a:sym typeface="Wingdings" panose="05000000000000000000" pitchFamily="2" charset="2"/>
              </a:rPr>
              <a:t>mi_entorno_virtual</a:t>
            </a:r>
            <a:r>
              <a:rPr lang="es-ES" sz="1400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es-ES" sz="1400" b="1" dirty="0" err="1">
                <a:sym typeface="Wingdings" panose="05000000000000000000" pitchFamily="2" charset="2"/>
              </a:rPr>
              <a:t>python</a:t>
            </a:r>
            <a:r>
              <a:rPr lang="es-ES" sz="1400" b="1" dirty="0">
                <a:sym typeface="Wingdings" panose="05000000000000000000" pitchFamily="2" charset="2"/>
              </a:rPr>
              <a:t> -m </a:t>
            </a:r>
            <a:r>
              <a:rPr lang="es-ES" sz="1400" b="1" dirty="0" err="1">
                <a:sym typeface="Wingdings" panose="05000000000000000000" pitchFamily="2" charset="2"/>
              </a:rPr>
              <a:t>venv</a:t>
            </a:r>
            <a:r>
              <a:rPr lang="es-ES" sz="1400" b="1" dirty="0">
                <a:sym typeface="Wingdings" panose="05000000000000000000" pitchFamily="2" charset="2"/>
              </a:rPr>
              <a:t> </a:t>
            </a:r>
            <a:r>
              <a:rPr lang="es-ES" sz="1400" b="1" dirty="0" err="1">
                <a:sym typeface="Wingdings" panose="05000000000000000000" pitchFamily="2" charset="2"/>
              </a:rPr>
              <a:t>mi_entorno_virtual</a:t>
            </a:r>
            <a:endParaRPr lang="es-ES" sz="1400" dirty="0">
              <a:sym typeface="Wingdings" panose="05000000000000000000" pitchFamily="2" charset="2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F547FF87-140C-DAE9-7786-9AD0A47B0101}"/>
              </a:ext>
            </a:extLst>
          </p:cNvPr>
          <p:cNvSpPr txBox="1">
            <a:spLocks/>
          </p:cNvSpPr>
          <p:nvPr/>
        </p:nvSpPr>
        <p:spPr>
          <a:xfrm>
            <a:off x="1324897" y="4324482"/>
            <a:ext cx="10515600" cy="5929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dirty="0">
                <a:sym typeface="Wingdings" panose="05000000000000000000" pitchFamily="2" charset="2"/>
              </a:rPr>
              <a:t>Activamos el entorno virtual</a:t>
            </a:r>
          </a:p>
          <a:p>
            <a:pPr marL="0" indent="0">
              <a:buNone/>
            </a:pPr>
            <a:r>
              <a:rPr lang="es-ES" sz="1400" b="1" dirty="0" err="1">
                <a:sym typeface="Wingdings" panose="05000000000000000000" pitchFamily="2" charset="2"/>
              </a:rPr>
              <a:t>mi_entorno_virtual</a:t>
            </a:r>
            <a:r>
              <a:rPr lang="es-ES" sz="1400" b="1" dirty="0">
                <a:sym typeface="Wingdings" panose="05000000000000000000" pitchFamily="2" charset="2"/>
              </a:rPr>
              <a:t>\Scripts\activate.bat</a:t>
            </a:r>
            <a:endParaRPr lang="es-ES" sz="1400" dirty="0">
              <a:sym typeface="Wingdings" panose="05000000000000000000" pitchFamily="2" charset="2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60C6A670-9829-C36F-4EF8-216A125E5E1B}"/>
              </a:ext>
            </a:extLst>
          </p:cNvPr>
          <p:cNvSpPr txBox="1">
            <a:spLocks/>
          </p:cNvSpPr>
          <p:nvPr/>
        </p:nvSpPr>
        <p:spPr>
          <a:xfrm>
            <a:off x="1324897" y="4948166"/>
            <a:ext cx="10515600" cy="11593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dirty="0"/>
              <a:t>Instalamos las librerías Python necesarias (las que no son nativas de Python) para compilar el app</a:t>
            </a:r>
          </a:p>
          <a:p>
            <a:pPr marL="0" indent="0">
              <a:buNone/>
            </a:pPr>
            <a:r>
              <a:rPr lang="es-ES" sz="1400" dirty="0">
                <a:sym typeface="Wingdings" panose="05000000000000000000" pitchFamily="2" charset="2"/>
              </a:rPr>
              <a:t>En caso de ser </a:t>
            </a:r>
            <a:r>
              <a:rPr lang="es-ES" sz="1400" dirty="0" err="1">
                <a:sym typeface="Wingdings" panose="05000000000000000000" pitchFamily="2" charset="2"/>
              </a:rPr>
              <a:t>admin</a:t>
            </a:r>
            <a:r>
              <a:rPr lang="es-ES" sz="1400" dirty="0">
                <a:sym typeface="Wingdings" panose="05000000000000000000" pitchFamily="2" charset="2"/>
              </a:rPr>
              <a:t> del pc:</a:t>
            </a:r>
          </a:p>
          <a:p>
            <a:pPr marL="0" indent="0">
              <a:buNone/>
            </a:pPr>
            <a:endParaRPr lang="es-ES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s-ES" sz="1400" dirty="0">
                <a:sym typeface="Wingdings" panose="05000000000000000000" pitchFamily="2" charset="2"/>
              </a:rPr>
              <a:t>En caso de NO ser </a:t>
            </a:r>
            <a:r>
              <a:rPr lang="es-ES" sz="1400" dirty="0" err="1">
                <a:sym typeface="Wingdings" panose="05000000000000000000" pitchFamily="2" charset="2"/>
              </a:rPr>
              <a:t>admin</a:t>
            </a:r>
            <a:r>
              <a:rPr lang="es-ES" sz="1400" dirty="0">
                <a:sym typeface="Wingdings" panose="05000000000000000000" pitchFamily="2" charset="2"/>
              </a:rPr>
              <a:t> del pc:</a:t>
            </a:r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dirty="0">
              <a:sym typeface="Wingdings" panose="05000000000000000000" pitchFamily="2" charset="2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C43C7B84-4C5A-932B-F24A-D0C619FFB733}"/>
              </a:ext>
            </a:extLst>
          </p:cNvPr>
          <p:cNvSpPr txBox="1">
            <a:spLocks/>
          </p:cNvSpPr>
          <p:nvPr/>
        </p:nvSpPr>
        <p:spPr>
          <a:xfrm>
            <a:off x="3623187" y="5246889"/>
            <a:ext cx="7243916" cy="49057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b="1" dirty="0" err="1"/>
              <a:t>pip</a:t>
            </a:r>
            <a:r>
              <a:rPr lang="es-ES" sz="1400" b="1" dirty="0"/>
              <a:t> </a:t>
            </a:r>
            <a:r>
              <a:rPr lang="es-ES" sz="1400" b="1" dirty="0" err="1"/>
              <a:t>install</a:t>
            </a:r>
            <a:r>
              <a:rPr lang="es-ES" sz="1400" b="1" dirty="0"/>
              <a:t> pywin32==304 </a:t>
            </a:r>
            <a:r>
              <a:rPr lang="es-ES" sz="1400" b="1" dirty="0" err="1"/>
              <a:t>numpy</a:t>
            </a:r>
            <a:r>
              <a:rPr lang="es-ES" sz="1400" b="1" dirty="0"/>
              <a:t>==1.22.0 pandas==1.5.0 </a:t>
            </a:r>
            <a:r>
              <a:rPr lang="es-ES" sz="1400" b="1" dirty="0" err="1"/>
              <a:t>pyinstaller</a:t>
            </a:r>
            <a:r>
              <a:rPr lang="es-ES" sz="1400" b="1" dirty="0"/>
              <a:t>==6.17.0 </a:t>
            </a:r>
            <a:r>
              <a:rPr lang="es-ES" sz="1400" b="1" dirty="0" err="1"/>
              <a:t>pyodbc</a:t>
            </a:r>
            <a:r>
              <a:rPr lang="es-ES" sz="1400" b="1" dirty="0"/>
              <a:t>==4.0.32 </a:t>
            </a:r>
            <a:r>
              <a:rPr lang="es-ES" sz="1400" b="1" dirty="0" err="1"/>
              <a:t>xlwings</a:t>
            </a:r>
            <a:r>
              <a:rPr lang="es-ES" sz="1400" b="1" dirty="0"/>
              <a:t>==0.27.15</a:t>
            </a:r>
            <a:endParaRPr lang="es-ES" sz="1400" dirty="0">
              <a:sym typeface="Wingdings" panose="05000000000000000000" pitchFamily="2" charset="2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637D7FAA-52DF-C419-2FAE-5C5D98E91B9A}"/>
              </a:ext>
            </a:extLst>
          </p:cNvPr>
          <p:cNvSpPr txBox="1">
            <a:spLocks/>
          </p:cNvSpPr>
          <p:nvPr/>
        </p:nvSpPr>
        <p:spPr>
          <a:xfrm>
            <a:off x="3937156" y="5865708"/>
            <a:ext cx="7243916" cy="49057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b="1" dirty="0" err="1"/>
              <a:t>pip</a:t>
            </a:r>
            <a:r>
              <a:rPr lang="es-ES" sz="1400" b="1" dirty="0"/>
              <a:t> </a:t>
            </a:r>
            <a:r>
              <a:rPr lang="es-ES" sz="1400" b="1" dirty="0" err="1"/>
              <a:t>install</a:t>
            </a:r>
            <a:r>
              <a:rPr lang="es-ES" sz="1400" b="1" dirty="0"/>
              <a:t> pywin32==304 </a:t>
            </a:r>
            <a:r>
              <a:rPr lang="es-ES" sz="1400" b="1" dirty="0" err="1"/>
              <a:t>numpy</a:t>
            </a:r>
            <a:r>
              <a:rPr lang="es-ES" sz="1400" b="1" dirty="0"/>
              <a:t>==1.22.0 pandas==1.5.0 </a:t>
            </a:r>
            <a:r>
              <a:rPr lang="es-ES" sz="1400" b="1" dirty="0" err="1"/>
              <a:t>pyinstaller</a:t>
            </a:r>
            <a:r>
              <a:rPr lang="es-ES" sz="1400" b="1" dirty="0"/>
              <a:t>==6.17.0 </a:t>
            </a:r>
            <a:r>
              <a:rPr lang="es-ES" sz="1400" b="1" dirty="0" err="1"/>
              <a:t>pyodbc</a:t>
            </a:r>
            <a:r>
              <a:rPr lang="es-ES" sz="1400" b="1" dirty="0"/>
              <a:t>==4.0.32 </a:t>
            </a:r>
            <a:r>
              <a:rPr lang="es-ES" sz="1400" b="1" dirty="0" err="1"/>
              <a:t>xlwings</a:t>
            </a:r>
            <a:r>
              <a:rPr lang="es-ES" sz="1400" b="1" dirty="0"/>
              <a:t>==0.27.15 --user</a:t>
            </a:r>
            <a:endParaRPr lang="es-ES" sz="1400" dirty="0">
              <a:sym typeface="Wingdings" panose="05000000000000000000" pitchFamily="2" charset="2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E32FADF-5FAC-3005-1693-012B06C5584A}"/>
              </a:ext>
            </a:extLst>
          </p:cNvPr>
          <p:cNvSpPr/>
          <p:nvPr/>
        </p:nvSpPr>
        <p:spPr>
          <a:xfrm>
            <a:off x="857483" y="1374804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1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C3560FC-4E4A-778B-87DF-F34CF8E64967}"/>
              </a:ext>
            </a:extLst>
          </p:cNvPr>
          <p:cNvSpPr/>
          <p:nvPr/>
        </p:nvSpPr>
        <p:spPr>
          <a:xfrm>
            <a:off x="803404" y="347824"/>
            <a:ext cx="10512768" cy="49519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MANUAL PARA COMPILAR EL APP EN EJECUTABLE EN WINDOWS </a:t>
            </a:r>
            <a:endParaRPr lang="es-ES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EC52131-9832-5FA1-63A9-8142205FDCD3}"/>
              </a:ext>
            </a:extLst>
          </p:cNvPr>
          <p:cNvSpPr/>
          <p:nvPr/>
        </p:nvSpPr>
        <p:spPr>
          <a:xfrm>
            <a:off x="857483" y="1988694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2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5DA6667-5028-66D3-3DBD-04998D6036BE}"/>
              </a:ext>
            </a:extLst>
          </p:cNvPr>
          <p:cNvSpPr/>
          <p:nvPr/>
        </p:nvSpPr>
        <p:spPr>
          <a:xfrm>
            <a:off x="857483" y="3664974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3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76D4A2C-AE19-2534-0540-7E605C188170}"/>
              </a:ext>
            </a:extLst>
          </p:cNvPr>
          <p:cNvSpPr/>
          <p:nvPr/>
        </p:nvSpPr>
        <p:spPr>
          <a:xfrm>
            <a:off x="857483" y="4324482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047D652-6EB8-0AA3-9CE6-18C2249FF16E}"/>
              </a:ext>
            </a:extLst>
          </p:cNvPr>
          <p:cNvSpPr/>
          <p:nvPr/>
        </p:nvSpPr>
        <p:spPr>
          <a:xfrm>
            <a:off x="857483" y="4948166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5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5C824AB-1AD4-06F8-F67F-ECEF67A7180F}"/>
              </a:ext>
            </a:extLst>
          </p:cNvPr>
          <p:cNvSpPr txBox="1">
            <a:spLocks/>
          </p:cNvSpPr>
          <p:nvPr/>
        </p:nvSpPr>
        <p:spPr>
          <a:xfrm>
            <a:off x="800572" y="998973"/>
            <a:ext cx="10515600" cy="3619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b="1" u="sng" dirty="0">
                <a:latin typeface="Calibri" panose="020F0502020204030204" pitchFamily="34" charset="0"/>
                <a:cs typeface="Calibri" panose="020F0502020204030204" pitchFamily="34" charset="0"/>
              </a:rPr>
              <a:t>Paso 3</a:t>
            </a: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. Tienes que tener internet conectado (para poder instalar las librerías Python necesarias).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s-E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  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155279E-4A00-9658-6BD2-1A3891934921}"/>
              </a:ext>
            </a:extLst>
          </p:cNvPr>
          <p:cNvSpPr/>
          <p:nvPr/>
        </p:nvSpPr>
        <p:spPr>
          <a:xfrm>
            <a:off x="6710621" y="6055849"/>
            <a:ext cx="564020" cy="25080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969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0086F-7CEF-13F7-80CC-4D559F418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F79B3A-7EB4-DD8F-8F5E-1BAB6BE2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5510"/>
            <a:ext cx="4114800" cy="365125"/>
          </a:xfrm>
        </p:spPr>
        <p:txBody>
          <a:bodyPr/>
          <a:lstStyle/>
          <a:p>
            <a:r>
              <a:rPr lang="es-ES" dirty="0"/>
              <a:t>Manual para compilar el app en ejecutable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C7F4DA-171C-6C13-6853-C5ABAFAD1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4</a:t>
            </a:fld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D1A1364-AC3B-D38B-0320-0960F9EDDC66}"/>
              </a:ext>
            </a:extLst>
          </p:cNvPr>
          <p:cNvSpPr/>
          <p:nvPr/>
        </p:nvSpPr>
        <p:spPr>
          <a:xfrm>
            <a:off x="803404" y="347824"/>
            <a:ext cx="10512768" cy="49519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MANUAL PARA COMPILAR EL APP EN EJECUTABLE EN WINDOWS </a:t>
            </a:r>
            <a:endParaRPr lang="es-ES" dirty="0"/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83945C77-7490-1366-09A6-D7250BC57795}"/>
              </a:ext>
            </a:extLst>
          </p:cNvPr>
          <p:cNvSpPr txBox="1">
            <a:spLocks/>
          </p:cNvSpPr>
          <p:nvPr/>
        </p:nvSpPr>
        <p:spPr>
          <a:xfrm>
            <a:off x="790740" y="5046711"/>
            <a:ext cx="10515600" cy="3619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Esperamos un momento el tiempo que se instalen las librerías.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FD16177B-C2B2-5D74-67FB-A21967837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72" y="1030907"/>
            <a:ext cx="10474086" cy="38458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955E0EA6-A20A-161C-3300-83429B75F577}"/>
              </a:ext>
            </a:extLst>
          </p:cNvPr>
          <p:cNvSpPr/>
          <p:nvPr/>
        </p:nvSpPr>
        <p:spPr>
          <a:xfrm>
            <a:off x="9736012" y="1432640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1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082B3CF-D59F-D71B-9812-B47EA5E968B8}"/>
              </a:ext>
            </a:extLst>
          </p:cNvPr>
          <p:cNvSpPr/>
          <p:nvPr/>
        </p:nvSpPr>
        <p:spPr>
          <a:xfrm>
            <a:off x="10370667" y="2371730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2</a:t>
            </a:r>
          </a:p>
        </p:txBody>
      </p:sp>
      <p:sp>
        <p:nvSpPr>
          <p:cNvPr id="9" name="Cerrar llave 8">
            <a:extLst>
              <a:ext uri="{FF2B5EF4-FFF2-40B4-BE49-F238E27FC236}">
                <a16:creationId xmlns:a16="http://schemas.microsoft.com/office/drawing/2014/main" id="{8400C0C4-B9DE-F0E7-9549-E717AC68DF1B}"/>
              </a:ext>
            </a:extLst>
          </p:cNvPr>
          <p:cNvSpPr/>
          <p:nvPr/>
        </p:nvSpPr>
        <p:spPr>
          <a:xfrm>
            <a:off x="9982200" y="1784354"/>
            <a:ext cx="323516" cy="1519285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2F83B46-7525-F82C-CB8C-3F8476E2CC6B}"/>
              </a:ext>
            </a:extLst>
          </p:cNvPr>
          <p:cNvSpPr/>
          <p:nvPr/>
        </p:nvSpPr>
        <p:spPr>
          <a:xfrm>
            <a:off x="2005781" y="3097164"/>
            <a:ext cx="1390007" cy="15731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957FEF8-955D-5C8A-C3C0-210E23B547D7}"/>
              </a:ext>
            </a:extLst>
          </p:cNvPr>
          <p:cNvSpPr/>
          <p:nvPr/>
        </p:nvSpPr>
        <p:spPr>
          <a:xfrm>
            <a:off x="10804272" y="3276600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3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9A0E159-CD4A-760F-DA76-77A140318A16}"/>
              </a:ext>
            </a:extLst>
          </p:cNvPr>
          <p:cNvSpPr/>
          <p:nvPr/>
        </p:nvSpPr>
        <p:spPr>
          <a:xfrm>
            <a:off x="8287084" y="3646741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4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CF53851-2DD7-8DD1-20ED-6C5A79B0B184}"/>
              </a:ext>
            </a:extLst>
          </p:cNvPr>
          <p:cNvSpPr/>
          <p:nvPr/>
        </p:nvSpPr>
        <p:spPr>
          <a:xfrm>
            <a:off x="5152196" y="4347751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5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3634935-11B4-1E88-706B-87546FB6881B}"/>
              </a:ext>
            </a:extLst>
          </p:cNvPr>
          <p:cNvSpPr/>
          <p:nvPr/>
        </p:nvSpPr>
        <p:spPr>
          <a:xfrm>
            <a:off x="780908" y="3951541"/>
            <a:ext cx="1293699" cy="178741"/>
          </a:xfrm>
          <a:prstGeom prst="roundRect">
            <a:avLst/>
          </a:prstGeom>
          <a:noFill/>
          <a:ln w="254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DE6B5B21-1507-8DBA-57B4-58D6B5B1C152}"/>
              </a:ext>
            </a:extLst>
          </p:cNvPr>
          <p:cNvSpPr txBox="1">
            <a:spLocks/>
          </p:cNvSpPr>
          <p:nvPr/>
        </p:nvSpPr>
        <p:spPr>
          <a:xfrm>
            <a:off x="741580" y="3740569"/>
            <a:ext cx="10515600" cy="182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Esto indica que el </a:t>
            </a:r>
            <a:r>
              <a:rPr lang="es-ES" sz="14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venv</a:t>
            </a:r>
            <a:r>
              <a:rPr lang="es-ES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esta activado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1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sz="1400" b="1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736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A33AD-8A08-AD0B-ABC8-08D1C7442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48A6D9-47F3-E1F8-E3B6-424387416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9240"/>
            <a:ext cx="10515600" cy="5084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400" b="1" u="sng" dirty="0"/>
              <a:t>Paso 4</a:t>
            </a:r>
            <a:r>
              <a:rPr lang="es-ES" sz="1400" dirty="0"/>
              <a:t>. Preparamos el fichero .</a:t>
            </a:r>
            <a:r>
              <a:rPr lang="es-ES" sz="1400" dirty="0" err="1"/>
              <a:t>spec</a:t>
            </a:r>
            <a:r>
              <a:rPr lang="es-ES" sz="1400" dirty="0"/>
              <a:t> que permite compilar el app en ejecutable (se puede abrir con el bloc de notas o Notepad++).</a:t>
            </a:r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A15F38D7-B4EA-EE64-233A-48B2D163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E3B3B9-86C1-9B41-8B75-625AACC79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5</a:t>
            </a:fld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BEFC37F-33A9-95A2-E00D-BE3DFA3B236E}"/>
              </a:ext>
            </a:extLst>
          </p:cNvPr>
          <p:cNvSpPr/>
          <p:nvPr/>
        </p:nvSpPr>
        <p:spPr>
          <a:xfrm>
            <a:off x="803404" y="347824"/>
            <a:ext cx="10512768" cy="49519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MANUAL PARA COMPILAR EL APP EN EJECUTABLE EN WINDOWS </a:t>
            </a:r>
            <a:endParaRPr lang="es-ES" dirty="0"/>
          </a:p>
        </p:txBody>
      </p:sp>
      <p:pic>
        <p:nvPicPr>
          <p:cNvPr id="5" name="Imagen 4" descr="Texto, Carta&#10;&#10;El contenido generado por IA puede ser incorrecto.">
            <a:extLst>
              <a:ext uri="{FF2B5EF4-FFF2-40B4-BE49-F238E27FC236}">
                <a16:creationId xmlns:a16="http://schemas.microsoft.com/office/drawing/2014/main" id="{37666CEC-92FA-DA72-1DEA-D8BF469C7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24" y="1501392"/>
            <a:ext cx="2438400" cy="1895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2401988-990F-E8BF-04B0-1BD0E6EF6888}"/>
              </a:ext>
            </a:extLst>
          </p:cNvPr>
          <p:cNvSpPr/>
          <p:nvPr/>
        </p:nvSpPr>
        <p:spPr>
          <a:xfrm>
            <a:off x="928015" y="2492620"/>
            <a:ext cx="1087597" cy="24223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2BDF4F6D-C5DB-B22E-F5A3-0AABB76AB627}"/>
              </a:ext>
            </a:extLst>
          </p:cNvPr>
          <p:cNvSpPr/>
          <p:nvPr/>
        </p:nvSpPr>
        <p:spPr>
          <a:xfrm>
            <a:off x="3449812" y="5736633"/>
            <a:ext cx="7842012" cy="494220"/>
          </a:xfrm>
          <a:prstGeom prst="roundRect">
            <a:avLst/>
          </a:prstGeom>
          <a:noFill/>
          <a:ln w="254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1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Pyinstaller</a:t>
            </a:r>
            <a:r>
              <a:rPr lang="es-E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no detecta automáticamente todas las dependencias necesarias para usar la librería win32com de ahí la necesidad de realizar estos ajustes en el fichero .</a:t>
            </a:r>
            <a:r>
              <a:rPr lang="es-ES" sz="1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spec</a:t>
            </a:r>
            <a:endParaRPr lang="es-ES" sz="1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9" name="Imagen 78" descr="Texto&#10;&#10;El contenido generado por IA puede ser incorrecto.">
            <a:extLst>
              <a:ext uri="{FF2B5EF4-FFF2-40B4-BE49-F238E27FC236}">
                <a16:creationId xmlns:a16="http://schemas.microsoft.com/office/drawing/2014/main" id="{CC57DE09-B918-B77B-B13E-69BBCAC92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523" y="1517089"/>
            <a:ext cx="4844094" cy="4132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0319661E-0D4F-7DFF-7A8C-5791C66BD752}"/>
              </a:ext>
            </a:extLst>
          </p:cNvPr>
          <p:cNvSpPr/>
          <p:nvPr/>
        </p:nvSpPr>
        <p:spPr>
          <a:xfrm>
            <a:off x="4325587" y="3154017"/>
            <a:ext cx="957331" cy="12393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Flecha: a la derecha 80">
            <a:extLst>
              <a:ext uri="{FF2B5EF4-FFF2-40B4-BE49-F238E27FC236}">
                <a16:creationId xmlns:a16="http://schemas.microsoft.com/office/drawing/2014/main" id="{2AAC48E9-8B89-8BA7-52DF-779AC57BB830}"/>
              </a:ext>
            </a:extLst>
          </p:cNvPr>
          <p:cNvSpPr/>
          <p:nvPr/>
        </p:nvSpPr>
        <p:spPr>
          <a:xfrm>
            <a:off x="5377419" y="3095025"/>
            <a:ext cx="3214647" cy="23678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2" name="Flecha: a la derecha 81">
            <a:extLst>
              <a:ext uri="{FF2B5EF4-FFF2-40B4-BE49-F238E27FC236}">
                <a16:creationId xmlns:a16="http://schemas.microsoft.com/office/drawing/2014/main" id="{0C6EAB06-60E9-FCDA-BD5A-DC2B5BB15A6F}"/>
              </a:ext>
            </a:extLst>
          </p:cNvPr>
          <p:cNvSpPr/>
          <p:nvPr/>
        </p:nvSpPr>
        <p:spPr>
          <a:xfrm>
            <a:off x="8245473" y="3691161"/>
            <a:ext cx="385921" cy="22377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CC4A3613-E954-555B-5272-92C87726A90B}"/>
              </a:ext>
            </a:extLst>
          </p:cNvPr>
          <p:cNvSpPr txBox="1"/>
          <p:nvPr/>
        </p:nvSpPr>
        <p:spPr>
          <a:xfrm>
            <a:off x="8582234" y="2941420"/>
            <a:ext cx="255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solidFill>
                  <a:srgbClr val="FF0000"/>
                </a:solidFill>
              </a:rPr>
              <a:t>Es el nombre del modulo .</a:t>
            </a:r>
            <a:r>
              <a:rPr lang="es-ES" sz="1200" dirty="0" err="1">
                <a:solidFill>
                  <a:srgbClr val="FF0000"/>
                </a:solidFill>
              </a:rPr>
              <a:t>py</a:t>
            </a:r>
            <a:r>
              <a:rPr lang="es-ES" sz="1200" dirty="0">
                <a:solidFill>
                  <a:srgbClr val="FF0000"/>
                </a:solidFill>
              </a:rPr>
              <a:t> desde el cual se ejecuta el app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33B4066D-EF13-5CA4-5788-23B94345E219}"/>
              </a:ext>
            </a:extLst>
          </p:cNvPr>
          <p:cNvSpPr txBox="1"/>
          <p:nvPr/>
        </p:nvSpPr>
        <p:spPr>
          <a:xfrm>
            <a:off x="8592066" y="3580606"/>
            <a:ext cx="2719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solidFill>
                  <a:srgbClr val="FF0000"/>
                </a:solidFill>
              </a:rPr>
              <a:t>Esta lista de tuplas permite incluir los archivos que han de incorporarse al app</a:t>
            </a:r>
            <a:r>
              <a:rPr lang="es-ES" sz="1200" dirty="0">
                <a:solidFill>
                  <a:srgbClr val="FF0000"/>
                </a:solidFill>
                <a:sym typeface="Wingdings" panose="05000000000000000000" pitchFamily="2" charset="2"/>
              </a:rPr>
              <a:t>. Reemplazar </a:t>
            </a:r>
            <a:r>
              <a:rPr lang="es-ES" sz="12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mi_ruta</a:t>
            </a:r>
            <a:r>
              <a:rPr lang="es-E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s-ES" sz="1200" dirty="0">
                <a:solidFill>
                  <a:srgbClr val="FF0000"/>
                </a:solidFill>
                <a:sym typeface="Wingdings" panose="05000000000000000000" pitchFamily="2" charset="2"/>
              </a:rPr>
              <a:t>por la ruta donde se ha creado el entorno virtual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85" name="Rectángulo: esquinas redondeadas 84">
            <a:extLst>
              <a:ext uri="{FF2B5EF4-FFF2-40B4-BE49-F238E27FC236}">
                <a16:creationId xmlns:a16="http://schemas.microsoft.com/office/drawing/2014/main" id="{B981D24A-2B91-CA55-8D55-F2CF22A75E27}"/>
              </a:ext>
            </a:extLst>
          </p:cNvPr>
          <p:cNvSpPr/>
          <p:nvPr/>
        </p:nvSpPr>
        <p:spPr>
          <a:xfrm>
            <a:off x="3457673" y="1746053"/>
            <a:ext cx="4828350" cy="223776"/>
          </a:xfrm>
          <a:prstGeom prst="roundRect">
            <a:avLst/>
          </a:prstGeom>
          <a:noFill/>
          <a:ln w="254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268D6FA5-F7FD-E379-E878-3B27B8A1EB7F}"/>
              </a:ext>
            </a:extLst>
          </p:cNvPr>
          <p:cNvSpPr/>
          <p:nvPr/>
        </p:nvSpPr>
        <p:spPr>
          <a:xfrm>
            <a:off x="4318753" y="3397671"/>
            <a:ext cx="1167647" cy="156500"/>
          </a:xfrm>
          <a:prstGeom prst="roundRect">
            <a:avLst/>
          </a:prstGeom>
          <a:noFill/>
          <a:ln w="254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22079E9B-7293-35F2-DB1A-852BD6AFEF9E}"/>
              </a:ext>
            </a:extLst>
          </p:cNvPr>
          <p:cNvSpPr/>
          <p:nvPr/>
        </p:nvSpPr>
        <p:spPr>
          <a:xfrm>
            <a:off x="4325587" y="4244842"/>
            <a:ext cx="1770413" cy="138303"/>
          </a:xfrm>
          <a:prstGeom prst="roundRect">
            <a:avLst/>
          </a:prstGeom>
          <a:noFill/>
          <a:ln w="254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8" name="Rectángulo: esquinas redondeadas 87">
            <a:extLst>
              <a:ext uri="{FF2B5EF4-FFF2-40B4-BE49-F238E27FC236}">
                <a16:creationId xmlns:a16="http://schemas.microsoft.com/office/drawing/2014/main" id="{6080ABD3-DC3D-E17B-5165-AA566EA3CD23}"/>
              </a:ext>
            </a:extLst>
          </p:cNvPr>
          <p:cNvSpPr/>
          <p:nvPr/>
        </p:nvSpPr>
        <p:spPr>
          <a:xfrm>
            <a:off x="4318619" y="3533849"/>
            <a:ext cx="3884541" cy="71099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9" name="Rectángulo: esquinas redondeadas 88">
            <a:extLst>
              <a:ext uri="{FF2B5EF4-FFF2-40B4-BE49-F238E27FC236}">
                <a16:creationId xmlns:a16="http://schemas.microsoft.com/office/drawing/2014/main" id="{83ACEC30-D7BA-0DE0-15EC-18750D24B416}"/>
              </a:ext>
            </a:extLst>
          </p:cNvPr>
          <p:cNvSpPr/>
          <p:nvPr/>
        </p:nvSpPr>
        <p:spPr>
          <a:xfrm>
            <a:off x="3457673" y="2270307"/>
            <a:ext cx="3204815" cy="789384"/>
          </a:xfrm>
          <a:prstGeom prst="roundRect">
            <a:avLst/>
          </a:prstGeom>
          <a:noFill/>
          <a:ln w="254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016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72984-113D-88B8-CD4B-2449E0A91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E6F7D-2F1E-B917-6A76-D628CBD38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9239"/>
            <a:ext cx="10515600" cy="5237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400" b="1" u="sng" dirty="0"/>
              <a:t>Paso 4</a:t>
            </a:r>
            <a:r>
              <a:rPr lang="es-ES" sz="1400" dirty="0"/>
              <a:t>. Preparamos el fichero .</a:t>
            </a:r>
            <a:r>
              <a:rPr lang="es-ES" sz="1400" dirty="0" err="1"/>
              <a:t>spec</a:t>
            </a:r>
            <a:r>
              <a:rPr lang="es-ES" sz="1400" dirty="0"/>
              <a:t> que permite compilar el app en ejecutable (se puede abrir con el bloc de notas o Notepad++).</a:t>
            </a:r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r>
              <a:rPr lang="es-ES" sz="1400" dirty="0"/>
              <a:t>Una vez realizados los cambios en el fichero .</a:t>
            </a:r>
            <a:r>
              <a:rPr lang="es-ES" sz="1400" dirty="0" err="1"/>
              <a:t>spec</a:t>
            </a:r>
            <a:r>
              <a:rPr lang="es-ES" sz="1400" dirty="0"/>
              <a:t>, lo guardamos.</a:t>
            </a: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6C232B7-BB11-4512-C0B7-2005843B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585F9FD-7F83-A534-5345-A007CD49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6</a:t>
            </a:fld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2618DC2-24EF-1020-CEE9-DD55BD584FBC}"/>
              </a:ext>
            </a:extLst>
          </p:cNvPr>
          <p:cNvSpPr/>
          <p:nvPr/>
        </p:nvSpPr>
        <p:spPr>
          <a:xfrm>
            <a:off x="803404" y="347824"/>
            <a:ext cx="10512768" cy="49519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MANUAL PARA COMPILAR EL APP EN EJECUTABLE EN WINDOWS </a:t>
            </a:r>
            <a:endParaRPr lang="es-ES" dirty="0"/>
          </a:p>
        </p:txBody>
      </p:sp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BBEE5B8D-52C3-BB5E-2789-862C8289D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18" y="1486035"/>
            <a:ext cx="2640471" cy="20016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8356BC5-0D58-593D-7F55-A344211C81A1}"/>
              </a:ext>
            </a:extLst>
          </p:cNvPr>
          <p:cNvSpPr/>
          <p:nvPr/>
        </p:nvSpPr>
        <p:spPr>
          <a:xfrm>
            <a:off x="918183" y="2531298"/>
            <a:ext cx="999108" cy="24223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3" name="Imagen 2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CED14CBA-E0FF-34E1-241D-B41B98D44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672" y="1486035"/>
            <a:ext cx="4858343" cy="18150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23CBAA92-57FD-D33E-0DC8-EE74B303DE04}"/>
              </a:ext>
            </a:extLst>
          </p:cNvPr>
          <p:cNvSpPr/>
          <p:nvPr/>
        </p:nvSpPr>
        <p:spPr>
          <a:xfrm>
            <a:off x="4320813" y="2237979"/>
            <a:ext cx="4115264" cy="16330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F26425F-2264-26F3-CB8B-B2437B7096E4}"/>
              </a:ext>
            </a:extLst>
          </p:cNvPr>
          <p:cNvSpPr/>
          <p:nvPr/>
        </p:nvSpPr>
        <p:spPr>
          <a:xfrm>
            <a:off x="4301146" y="2980560"/>
            <a:ext cx="900119" cy="16283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ED99B52-C729-9384-0F0A-8B3101823734}"/>
              </a:ext>
            </a:extLst>
          </p:cNvPr>
          <p:cNvSpPr txBox="1"/>
          <p:nvPr/>
        </p:nvSpPr>
        <p:spPr>
          <a:xfrm>
            <a:off x="8936660" y="2131509"/>
            <a:ext cx="2303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solidFill>
                  <a:srgbClr val="FF0000"/>
                </a:solidFill>
              </a:rPr>
              <a:t>Es el nombre con el cual se creará el ejecutable</a:t>
            </a:r>
            <a:endParaRPr lang="es-ES" sz="1200" b="1" dirty="0">
              <a:solidFill>
                <a:srgbClr val="FF0000"/>
              </a:solidFill>
            </a:endParaRPr>
          </a:p>
        </p:txBody>
      </p:sp>
      <p:sp>
        <p:nvSpPr>
          <p:cNvPr id="27" name="Flecha: doblada hacia arriba 26">
            <a:extLst>
              <a:ext uri="{FF2B5EF4-FFF2-40B4-BE49-F238E27FC236}">
                <a16:creationId xmlns:a16="http://schemas.microsoft.com/office/drawing/2014/main" id="{D13D701A-E513-B521-C497-16DFD6C1D40A}"/>
              </a:ext>
            </a:extLst>
          </p:cNvPr>
          <p:cNvSpPr/>
          <p:nvPr/>
        </p:nvSpPr>
        <p:spPr>
          <a:xfrm rot="5400000">
            <a:off x="4697254" y="3275762"/>
            <a:ext cx="437282" cy="457196"/>
          </a:xfrm>
          <a:prstGeom prst="bent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0848C0A-3D60-BA18-3AB5-3487706B8BE9}"/>
              </a:ext>
            </a:extLst>
          </p:cNvPr>
          <p:cNvSpPr txBox="1"/>
          <p:nvPr/>
        </p:nvSpPr>
        <p:spPr>
          <a:xfrm>
            <a:off x="5258176" y="3459739"/>
            <a:ext cx="58318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solidFill>
                  <a:srgbClr val="FF0000"/>
                </a:solidFill>
              </a:rPr>
              <a:t>Si se establece a True, la app cada vez que se abra lo hará con una consola negra por detrás. Es particularmente útil, en aquellas apps donde se quiere mostrar el flujo de ejecución del programa y los posibles errores que pueden surgir. </a:t>
            </a:r>
          </a:p>
          <a:p>
            <a:pPr algn="just"/>
            <a:r>
              <a:rPr lang="es-ES" sz="1200" dirty="0">
                <a:solidFill>
                  <a:srgbClr val="FF0000"/>
                </a:solidFill>
              </a:rPr>
              <a:t>Para el presente proyecto colgado en </a:t>
            </a:r>
            <a:r>
              <a:rPr lang="es-ES" sz="1200" dirty="0" err="1">
                <a:solidFill>
                  <a:srgbClr val="FF0000"/>
                </a:solidFill>
              </a:rPr>
              <a:t>Github</a:t>
            </a:r>
            <a:r>
              <a:rPr lang="es-ES" sz="1200" dirty="0">
                <a:solidFill>
                  <a:srgbClr val="FF0000"/>
                </a:solidFill>
              </a:rPr>
              <a:t> aquí no es necesario</a:t>
            </a:r>
            <a:endParaRPr lang="es-ES" sz="1200" b="1" dirty="0">
              <a:solidFill>
                <a:srgbClr val="FF0000"/>
              </a:solidFill>
            </a:endParaRPr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4BFC2D32-A3AB-4676-2152-3190A73063D4}"/>
              </a:ext>
            </a:extLst>
          </p:cNvPr>
          <p:cNvSpPr/>
          <p:nvPr/>
        </p:nvSpPr>
        <p:spPr>
          <a:xfrm>
            <a:off x="8521243" y="2217576"/>
            <a:ext cx="385921" cy="22377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0078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D9121-1E2E-C946-37E9-C0782D24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8DE3E8-7912-8729-3FE8-CAA64B5E8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740" y="1001252"/>
            <a:ext cx="10515600" cy="4347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400" b="1" u="sng" dirty="0"/>
              <a:t>Paso 5</a:t>
            </a:r>
            <a:r>
              <a:rPr lang="es-ES" sz="1400" dirty="0"/>
              <a:t>. Volvemos a la consola MS-DOS y escribimos:</a:t>
            </a:r>
          </a:p>
          <a:p>
            <a:pPr marL="0" indent="0">
              <a:buNone/>
            </a:pPr>
            <a:r>
              <a:rPr lang="es-ES" sz="1400" b="1" dirty="0" err="1"/>
              <a:t>pyinstaller</a:t>
            </a:r>
            <a:r>
              <a:rPr lang="es-ES" sz="1400" b="1" dirty="0"/>
              <a:t> APP_1_GUI.spec</a:t>
            </a:r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r>
              <a:rPr lang="es-ES" sz="1400" dirty="0"/>
              <a:t>Dejamos que se compile el app (puede tardar unos minutos).</a:t>
            </a:r>
          </a:p>
          <a:p>
            <a:pPr marL="0" indent="0">
              <a:buNone/>
            </a:pPr>
            <a:r>
              <a:rPr lang="es-ES" sz="1400" dirty="0"/>
              <a:t>La compilación habrá acabado cuando salga esto:</a:t>
            </a:r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r>
              <a:rPr lang="es-ES" sz="1400" dirty="0"/>
              <a:t>El ejecutable se ha guardado en la carpeta </a:t>
            </a:r>
            <a:r>
              <a:rPr lang="es-ES" sz="1400" b="1" dirty="0" err="1"/>
              <a:t>dist</a:t>
            </a:r>
            <a:r>
              <a:rPr lang="es-ES" sz="1400" dirty="0"/>
              <a:t> (creada) en </a:t>
            </a:r>
            <a:r>
              <a:rPr lang="es-ES" sz="1400" b="1" dirty="0" err="1"/>
              <a:t>mi_ruta</a:t>
            </a:r>
            <a:r>
              <a:rPr lang="es-ES" sz="1400" dirty="0"/>
              <a:t>.</a:t>
            </a:r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  <a:p>
            <a:pPr marL="0" indent="0">
              <a:buNone/>
            </a:pPr>
            <a:endParaRPr lang="es-ES" sz="140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7191EBD8-0175-B21B-CDF2-1B9E62DA1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0AD1E9-0FFD-860E-1EA0-4D6EDE95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7</a:t>
            </a:fld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2952DD4-5460-757D-65F7-ACE39CDFE210}"/>
              </a:ext>
            </a:extLst>
          </p:cNvPr>
          <p:cNvSpPr/>
          <p:nvPr/>
        </p:nvSpPr>
        <p:spPr>
          <a:xfrm>
            <a:off x="803404" y="347824"/>
            <a:ext cx="10512768" cy="49519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MANUAL PARA COMPILAR EL APP EN EJECUTABLE EN WINDOWS 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6B4E07D-0D0D-4C8F-F65F-362E618D8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23" y="1643544"/>
            <a:ext cx="10443147" cy="644996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D684629-DA9E-CBFD-3AEA-E91A36537FB9}"/>
              </a:ext>
            </a:extLst>
          </p:cNvPr>
          <p:cNvSpPr/>
          <p:nvPr/>
        </p:nvSpPr>
        <p:spPr>
          <a:xfrm>
            <a:off x="9484898" y="1649576"/>
            <a:ext cx="1605890" cy="16939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094BE27-0215-7516-487F-E22759062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63" y="3201364"/>
            <a:ext cx="10424277" cy="372818"/>
          </a:xfrm>
          <a:prstGeom prst="rect">
            <a:avLst/>
          </a:prstGeom>
        </p:spPr>
      </p:pic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7036F59-3D58-70AB-A4F0-3DE65518FFE5}"/>
              </a:ext>
            </a:extLst>
          </p:cNvPr>
          <p:cNvSpPr/>
          <p:nvPr/>
        </p:nvSpPr>
        <p:spPr>
          <a:xfrm>
            <a:off x="1565011" y="3192280"/>
            <a:ext cx="3085645" cy="14085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" name="Imagen 19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CEB4186-4158-262C-B15D-9EA441077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64" y="4203429"/>
            <a:ext cx="6148002" cy="10048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5BE82051-CFC4-6A0E-3FAE-150165480B46}"/>
              </a:ext>
            </a:extLst>
          </p:cNvPr>
          <p:cNvSpPr/>
          <p:nvPr/>
        </p:nvSpPr>
        <p:spPr>
          <a:xfrm>
            <a:off x="1005962" y="4856536"/>
            <a:ext cx="449214" cy="20707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D1993AB4-A645-2AF9-CD3C-893032AA0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64" y="5321550"/>
            <a:ext cx="7062402" cy="8019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0058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8D0B3-6D9A-896A-D3A9-4EC7AA621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6B2C70-3543-02B6-39C5-7CA1E1E81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740" y="1001252"/>
            <a:ext cx="10515600" cy="21745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400" b="1" u="sng" dirty="0"/>
              <a:t>Paso 6</a:t>
            </a:r>
            <a:r>
              <a:rPr lang="es-ES" sz="1400" dirty="0"/>
              <a:t>. Comprobamos que el ejecutable se ha compilado sin errores.</a:t>
            </a:r>
          </a:p>
          <a:p>
            <a:pPr marL="0" indent="0">
              <a:buNone/>
            </a:pPr>
            <a:r>
              <a:rPr lang="es-ES" sz="1400" dirty="0"/>
              <a:t>Volvemos a la consola MS-DOS:</a:t>
            </a:r>
          </a:p>
          <a:p>
            <a:pPr marL="0" indent="0">
              <a:buNone/>
            </a:pPr>
            <a:r>
              <a:rPr lang="es-ES" sz="1400" dirty="0"/>
              <a:t>Desactivamos el entorno virtual                          </a:t>
            </a:r>
            <a:r>
              <a:rPr lang="es-ES" sz="1400" b="1" dirty="0" err="1"/>
              <a:t>deactivate</a:t>
            </a:r>
            <a:endParaRPr lang="es-ES" sz="1400" b="1" dirty="0"/>
          </a:p>
          <a:p>
            <a:pPr marL="0" indent="0">
              <a:buNone/>
            </a:pPr>
            <a:r>
              <a:rPr lang="es-ES" sz="1400" dirty="0"/>
              <a:t>No situamos en la carpeta </a:t>
            </a:r>
            <a:r>
              <a:rPr lang="es-ES" sz="1400" dirty="0" err="1"/>
              <a:t>dist</a:t>
            </a:r>
            <a:r>
              <a:rPr lang="es-ES" sz="1400" dirty="0"/>
              <a:t>                             </a:t>
            </a:r>
            <a:r>
              <a:rPr lang="es-ES" sz="1400" b="1" dirty="0"/>
              <a:t>cd </a:t>
            </a:r>
            <a:r>
              <a:rPr lang="es-ES" sz="1400" b="1" dirty="0" err="1"/>
              <a:t>dist</a:t>
            </a:r>
            <a:endParaRPr lang="es-ES" sz="1400" b="1" dirty="0"/>
          </a:p>
          <a:p>
            <a:pPr marL="0" indent="0">
              <a:buNone/>
            </a:pPr>
            <a:r>
              <a:rPr lang="es-ES" sz="1400" dirty="0"/>
              <a:t>Abrimos el ejecutable                                               </a:t>
            </a:r>
            <a:r>
              <a:rPr lang="es-ES" sz="1400" b="1" dirty="0"/>
              <a:t>APP_CONTROL_VERSIONES_Y_DEPENDENCIAS_MS_ACCESS_Y_SQL_SERVER.exe</a:t>
            </a:r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5ACFFDB-2F33-4F96-AF5E-FEF9826C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EA9DD6-A886-F580-EF67-A9211EFB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8</a:t>
            </a:fld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C7D8CF4-93B8-0A65-036E-B3B38B45E225}"/>
              </a:ext>
            </a:extLst>
          </p:cNvPr>
          <p:cNvSpPr/>
          <p:nvPr/>
        </p:nvSpPr>
        <p:spPr>
          <a:xfrm>
            <a:off x="803404" y="347824"/>
            <a:ext cx="10512768" cy="49519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MANUAL PARA COMPILAR EL APP EN EJECUTABLE EN WINDOWS </a:t>
            </a:r>
            <a:endParaRPr lang="es-ES" dirty="0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FA80585A-29D9-FAFB-EE14-2CAD4412A87C}"/>
              </a:ext>
            </a:extLst>
          </p:cNvPr>
          <p:cNvSpPr txBox="1">
            <a:spLocks/>
          </p:cNvSpPr>
          <p:nvPr/>
        </p:nvSpPr>
        <p:spPr>
          <a:xfrm>
            <a:off x="1101211" y="3429000"/>
            <a:ext cx="10252589" cy="305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sz="1400" dirty="0"/>
              <a:t>Si no hay errores, se abre el app: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b="1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sz="1400" dirty="0"/>
              <a:t>En este caso ya se puede usar el app.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s-ES" sz="1400" dirty="0"/>
              <a:t>Ya no es necesario pasar por los comandos </a:t>
            </a:r>
            <a:r>
              <a:rPr lang="es-ES" sz="1400" dirty="0" err="1"/>
              <a:t>ms-dos</a:t>
            </a:r>
            <a:r>
              <a:rPr lang="es-ES" sz="1400" dirty="0"/>
              <a:t> comentados en esta página para abrirlo. El archivo en la carpeta </a:t>
            </a:r>
            <a:r>
              <a:rPr lang="es-ES" sz="1400" b="1" dirty="0" err="1"/>
              <a:t>dist</a:t>
            </a:r>
            <a:r>
              <a:rPr lang="es-ES" sz="1400" dirty="0"/>
              <a:t> se puede mover en la ubicación que se quiera e incluso pasarlo a un pc que no tenga Python instalado. Hacer doble-</a:t>
            </a:r>
            <a:r>
              <a:rPr lang="es-ES" sz="1400" dirty="0" err="1"/>
              <a:t>click</a:t>
            </a:r>
            <a:r>
              <a:rPr lang="es-ES" sz="1400" dirty="0"/>
              <a:t> en el archivo para abrirlo.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ES" sz="140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3BDC115-3062-1519-1F81-28C850AD77D3}"/>
              </a:ext>
            </a:extLst>
          </p:cNvPr>
          <p:cNvSpPr/>
          <p:nvPr/>
        </p:nvSpPr>
        <p:spPr>
          <a:xfrm>
            <a:off x="767861" y="3429000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EE0609-EF6D-3237-5011-B891F82A5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68" y="2627577"/>
            <a:ext cx="10483272" cy="481541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6CCCF01-64B7-BC25-1F64-AD3C232C3BAF}"/>
              </a:ext>
            </a:extLst>
          </p:cNvPr>
          <p:cNvSpPr/>
          <p:nvPr/>
        </p:nvSpPr>
        <p:spPr>
          <a:xfrm>
            <a:off x="8552220" y="2620200"/>
            <a:ext cx="601612" cy="14266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D6D14AE-758D-F457-C046-544683EBD50E}"/>
              </a:ext>
            </a:extLst>
          </p:cNvPr>
          <p:cNvSpPr/>
          <p:nvPr/>
        </p:nvSpPr>
        <p:spPr>
          <a:xfrm>
            <a:off x="7443632" y="2719703"/>
            <a:ext cx="471336" cy="14266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7555CC8-9B13-15C0-AB66-FB0A6E042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514" y="3495702"/>
            <a:ext cx="3092904" cy="18137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262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738FD-8EFD-72BD-BBC7-C6B4ACB7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C5D8C7E0-405B-05AE-6D5C-676C3BFA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Manual para compilar el app en ejecutable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D316D8-B934-D5B8-D3EB-AC97C67B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1DF7-845E-494B-92D1-FA7E0489B89A}" type="slidenum">
              <a:rPr lang="es-ES" smtClean="0"/>
              <a:t>9</a:t>
            </a:fld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6E7B1EB-A051-368B-2A4C-55F0614DB64A}"/>
              </a:ext>
            </a:extLst>
          </p:cNvPr>
          <p:cNvSpPr/>
          <p:nvPr/>
        </p:nvSpPr>
        <p:spPr>
          <a:xfrm>
            <a:off x="803404" y="347824"/>
            <a:ext cx="10512768" cy="49519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MANUAL PARA COMPILAR EL APP EN EJECUTABLE EN WINDOWS </a:t>
            </a:r>
            <a:endParaRPr lang="es-ES" dirty="0"/>
          </a:p>
        </p:txBody>
      </p:sp>
      <p:pic>
        <p:nvPicPr>
          <p:cNvPr id="21" name="Imagen 20" descr="Texto&#10;&#10;El contenido generado por IA puede ser incorrecto.">
            <a:extLst>
              <a:ext uri="{FF2B5EF4-FFF2-40B4-BE49-F238E27FC236}">
                <a16:creationId xmlns:a16="http://schemas.microsoft.com/office/drawing/2014/main" id="{E2D50EB4-6375-E423-66CA-992435655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259" y="1220329"/>
            <a:ext cx="2024124" cy="16474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3E719DF-C79A-3182-2FBA-62B679997C45}"/>
              </a:ext>
            </a:extLst>
          </p:cNvPr>
          <p:cNvSpPr txBox="1">
            <a:spLocks/>
          </p:cNvSpPr>
          <p:nvPr/>
        </p:nvSpPr>
        <p:spPr>
          <a:xfrm>
            <a:off x="1334350" y="1220329"/>
            <a:ext cx="9523299" cy="3534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400" dirty="0"/>
              <a:t>En caso de errores, se abrirá una ventana de este tipo: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sz="1400" b="1" dirty="0"/>
          </a:p>
          <a:p>
            <a:pPr marL="0" indent="0">
              <a:buFont typeface="Arial" panose="020B0604020202020204" pitchFamily="34" charset="0"/>
              <a:buNone/>
            </a:pPr>
            <a:endParaRPr lang="es-ES" sz="1400" b="1" dirty="0"/>
          </a:p>
          <a:p>
            <a:pPr marL="0" indent="0">
              <a:buFont typeface="Arial" panose="020B0604020202020204" pitchFamily="34" charset="0"/>
              <a:buNone/>
            </a:pPr>
            <a:endParaRPr lang="es-ES" sz="1400" b="1" dirty="0"/>
          </a:p>
          <a:p>
            <a:pPr marL="0" indent="0">
              <a:buFont typeface="Arial" panose="020B0604020202020204" pitchFamily="34" charset="0"/>
              <a:buNone/>
            </a:pPr>
            <a:endParaRPr lang="es-E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s-E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1400" dirty="0"/>
              <a:t>Buscar en internet como resolverlo, pero no debería suceder.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sz="1400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0AF82A0-4410-7E7B-511E-98AB096C59BC}"/>
              </a:ext>
            </a:extLst>
          </p:cNvPr>
          <p:cNvSpPr/>
          <p:nvPr/>
        </p:nvSpPr>
        <p:spPr>
          <a:xfrm>
            <a:off x="885660" y="1220329"/>
            <a:ext cx="323516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2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F0176443-2E29-F9D4-A614-9631F3D97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572" y="3667537"/>
            <a:ext cx="10515600" cy="21745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1400" b="1" u="sng" dirty="0"/>
              <a:t>Paso 7</a:t>
            </a:r>
            <a:r>
              <a:rPr lang="es-ES" sz="1400" dirty="0"/>
              <a:t>. Eliminamos el entorno virtual (opcional)</a:t>
            </a:r>
          </a:p>
          <a:p>
            <a:pPr marL="0" indent="0">
              <a:buNone/>
            </a:pPr>
            <a:r>
              <a:rPr lang="es-ES" sz="1400" dirty="0"/>
              <a:t>Escribimos en la consola MS-DOS:</a:t>
            </a:r>
          </a:p>
          <a:p>
            <a:pPr marL="0" indent="0">
              <a:buNone/>
            </a:pPr>
            <a:r>
              <a:rPr lang="es-ES" sz="1400" b="1" dirty="0"/>
              <a:t>cd ..</a:t>
            </a:r>
          </a:p>
          <a:p>
            <a:pPr marL="0" indent="0">
              <a:buNone/>
            </a:pPr>
            <a:r>
              <a:rPr lang="es-ES" sz="1400" b="1" dirty="0" err="1"/>
              <a:t>rmdir</a:t>
            </a:r>
            <a:r>
              <a:rPr lang="es-ES" sz="1400" b="1" dirty="0"/>
              <a:t> /s /q </a:t>
            </a:r>
            <a:r>
              <a:rPr lang="es-ES" sz="1400" b="1" dirty="0" err="1"/>
              <a:t>build</a:t>
            </a:r>
            <a:endParaRPr lang="es-ES" sz="1400" b="1" dirty="0"/>
          </a:p>
          <a:p>
            <a:pPr marL="0" indent="0">
              <a:buNone/>
            </a:pPr>
            <a:r>
              <a:rPr lang="es-ES" sz="1400" b="1" dirty="0" err="1"/>
              <a:t>rmdir</a:t>
            </a:r>
            <a:r>
              <a:rPr lang="es-ES" sz="1400" b="1" dirty="0"/>
              <a:t> /s /q </a:t>
            </a:r>
            <a:r>
              <a:rPr lang="es-ES" sz="1400" b="1" dirty="0" err="1"/>
              <a:t>dist</a:t>
            </a:r>
            <a:endParaRPr lang="es-ES" sz="1400" b="1" dirty="0"/>
          </a:p>
          <a:p>
            <a:pPr marL="0" indent="0">
              <a:buNone/>
            </a:pPr>
            <a:r>
              <a:rPr lang="es-ES" sz="1400" b="1" dirty="0" err="1"/>
              <a:t>rmdir</a:t>
            </a:r>
            <a:r>
              <a:rPr lang="es-ES" sz="1400" b="1" dirty="0"/>
              <a:t> /s /q __</a:t>
            </a:r>
            <a:r>
              <a:rPr lang="es-ES" sz="1400" b="1" dirty="0" err="1"/>
              <a:t>pycache</a:t>
            </a:r>
            <a:r>
              <a:rPr lang="es-ES" sz="1400" b="1" dirty="0"/>
              <a:t>__</a:t>
            </a:r>
          </a:p>
          <a:p>
            <a:pPr marL="0" indent="0">
              <a:buNone/>
            </a:pPr>
            <a:r>
              <a:rPr lang="es-ES" sz="1400" b="1" dirty="0" err="1"/>
              <a:t>rmdir</a:t>
            </a:r>
            <a:r>
              <a:rPr lang="es-ES" sz="1400" b="1" dirty="0"/>
              <a:t> </a:t>
            </a:r>
            <a:r>
              <a:rPr lang="es-ES" sz="1400" b="1" dirty="0" err="1"/>
              <a:t>mi_entorno_virtual</a:t>
            </a:r>
            <a:r>
              <a:rPr lang="es-ES" sz="1400" b="1" dirty="0"/>
              <a:t>/s                  </a:t>
            </a:r>
            <a:r>
              <a:rPr lang="es-ES" sz="1400" dirty="0"/>
              <a:t> (marcamos </a:t>
            </a:r>
            <a:r>
              <a:rPr lang="es-ES" sz="1400" b="1" dirty="0"/>
              <a:t>s</a:t>
            </a:r>
            <a:r>
              <a:rPr lang="es-ES" sz="1400" dirty="0"/>
              <a:t>)</a:t>
            </a:r>
          </a:p>
          <a:p>
            <a:pPr marL="0" indent="0">
              <a:buNone/>
            </a:pPr>
            <a:endParaRPr lang="es-ES" sz="1400" b="1" dirty="0"/>
          </a:p>
          <a:p>
            <a:pPr marL="0" indent="0">
              <a:buNone/>
            </a:pPr>
            <a:endParaRPr lang="es-ES" sz="1400" dirty="0"/>
          </a:p>
        </p:txBody>
      </p:sp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A88615B6-FE3B-22B7-8B98-4C845EFF9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790" y="4282603"/>
            <a:ext cx="6445238" cy="1123387"/>
          </a:xfrm>
          <a:prstGeom prst="rect">
            <a:avLst/>
          </a:prstGeom>
        </p:spPr>
      </p:pic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BF1E784A-2A06-E52F-FF13-BAD9A105F256}"/>
              </a:ext>
            </a:extLst>
          </p:cNvPr>
          <p:cNvSpPr/>
          <p:nvPr/>
        </p:nvSpPr>
        <p:spPr>
          <a:xfrm>
            <a:off x="8756693" y="4277308"/>
            <a:ext cx="235974" cy="151067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94CFF05-B658-1B5D-FA70-2B34F99277E3}"/>
              </a:ext>
            </a:extLst>
          </p:cNvPr>
          <p:cNvSpPr/>
          <p:nvPr/>
        </p:nvSpPr>
        <p:spPr>
          <a:xfrm>
            <a:off x="8588698" y="4577949"/>
            <a:ext cx="798108" cy="15947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FA86744-A7E0-CC5F-868D-C9551BD2CAD6}"/>
              </a:ext>
            </a:extLst>
          </p:cNvPr>
          <p:cNvSpPr/>
          <p:nvPr/>
        </p:nvSpPr>
        <p:spPr>
          <a:xfrm>
            <a:off x="8588698" y="4912595"/>
            <a:ext cx="1071411" cy="16781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58E12DAE-37CC-73C2-3823-D0DF0129F954}"/>
              </a:ext>
            </a:extLst>
          </p:cNvPr>
          <p:cNvSpPr/>
          <p:nvPr/>
        </p:nvSpPr>
        <p:spPr>
          <a:xfrm>
            <a:off x="4162115" y="5262366"/>
            <a:ext cx="930996" cy="15345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301AFEC3-19E7-CAE4-05DE-79486F41383F}"/>
              </a:ext>
            </a:extLst>
          </p:cNvPr>
          <p:cNvSpPr/>
          <p:nvPr/>
        </p:nvSpPr>
        <p:spPr>
          <a:xfrm>
            <a:off x="8588698" y="4427167"/>
            <a:ext cx="798108" cy="15947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71832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941</Words>
  <Application>Microsoft Office PowerPoint</Application>
  <PresentationFormat>Panorámica</PresentationFormat>
  <Paragraphs>177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Wingdings</vt:lpstr>
      <vt:lpstr>Tema de Office</vt:lpstr>
      <vt:lpstr>MANUAL PARA COMPILAR EL APP EN EJECUTABLE EN WINDOWS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Bott</dc:creator>
  <cp:lastModifiedBy>Julien Bott</cp:lastModifiedBy>
  <cp:revision>32</cp:revision>
  <dcterms:created xsi:type="dcterms:W3CDTF">2025-01-12T16:17:15Z</dcterms:created>
  <dcterms:modified xsi:type="dcterms:W3CDTF">2026-01-07T09:52:59Z</dcterms:modified>
</cp:coreProperties>
</file>